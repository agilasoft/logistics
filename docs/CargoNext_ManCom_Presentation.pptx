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CargoNext v1 Astraea</a:t>
            </a:r>
          </a:p>
          <a:p>
            <a:pPr algn="ctr">
              <a:spcBef>
                <a:spcPts val="800"/>
              </a:spcBef>
              <a:defRPr sz="1800">
                <a:solidFill>
                  <a:srgbClr val="B8D4E8"/>
                </a:solidFill>
              </a:defRPr>
            </a:pPr>
            <a:r>
              <a:t>Integrated Logistics on ERPNext</a:t>
            </a:r>
          </a:p>
          <a:p>
            <a:pPr algn="ctr">
              <a:spcBef>
                <a:spcPts val="800"/>
              </a:spcBef>
              <a:defRPr sz="1800">
                <a:solidFill>
                  <a:srgbClr val="B8D4E8"/>
                </a:solidFill>
              </a:defRPr>
            </a:pPr>
            <a:r>
              <a:t>From Quote to Delivery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1600">
                <a:solidFill>
                  <a:srgbClr val="B8D4E8"/>
                </a:solidFill>
              </a:defRPr>
            </a:pPr>
            <a:r>
              <a:t>Management Committee Briefing</a:t>
            </a:r>
          </a:p>
          <a:p>
            <a:pPr algn="ctr">
              <a:spcBef>
                <a:spcPts val="800"/>
              </a:spcBef>
              <a:defRPr sz="1800">
                <a:solidFill>
                  <a:srgbClr val="B8D4E8"/>
                </a:solidFill>
              </a:defRPr>
            </a:pPr>
            <a:r>
              <a:t>Agilasoft Cloud Technologies Inc.  ·  BlueCore Solutions Corp.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CargoNext is an integrated logistics platform on Frappe / ERPNext v16 — quote, execution, recognition, and billing in one system.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v1 Astraea is Generally Available: sea, air, transport, customs, warehousing, pricing, and job costing are production-ready.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Early adopters in live operations: All Transport Network, All Systems Logistics, Prime Warehouse Dynamics, Fast Prime Transport.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Differentiator: finance-aware operations — Main Job vs Internal Jobs, WIP/accrual, intercompany billing, credit control.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Next layer: Control Tower executive dashboards across 22 organizations (GP, pipeline, operations KPIs).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Strategic Context</a:t>
            </a:r>
          </a:p>
          <a:p>
            <a:pPr>
              <a:defRPr sz="1400">
                <a:solidFill>
                  <a:srgbClr val="B8D4E8"/>
                </a:solidFill>
              </a:defRPr>
            </a:pPr>
            <a:r>
              <a:t>Why ManCom should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Fragmented tools create manual handoffs between sales, operations, and finance.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Limited visibility on job profitability, milestone lead times, and credit exposure.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Scaling across sea, air, transport, and warehouse requires a unified data model.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CargoNext positions the group to run forwarding, trucking, and warehousing on one ERP backbone.</a:t>
            </a:r>
          </a:p>
          <a:p>
            <a:pPr>
              <a:spcAft>
                <a:spcPts val="600"/>
              </a:spcAft>
              <a:defRPr sz="1700">
                <a:solidFill>
                  <a:srgbClr val="2D2D2D"/>
                </a:solidFill>
              </a:defRPr>
            </a:pPr>
            <a:r>
              <a:t>Built in the Philippines for regional supply chains — product and delivery capability in-house.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Commercial layer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Pricing Center — Sales Quotes, Change Requests, charge calculation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Execution layer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Sea Freight · Air Freight · Transport · Customs · Warehousing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Finance &amp; control layer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Job Management · Revenue recognition · Intercompany · Credit management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Visibility layer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  Operational milestones · Document compliance · Control Tower KPIs · Customer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Module Map &amp;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8321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Sea / Air Freight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Bookings, shipments, consolidations, MBL/MAWB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Orders, jobs, legs, run sheets, POD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Customs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Declarations, permits, exemptions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Warehousing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Inbound, release, VAS, contracts, gate pass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Pricing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Quotes, separate billings, charge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Job Management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Costing, WIP/accrual, recognition, GP views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Credit / Intercompany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Holds, lifts, internal &amp; IC 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Live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Control Tower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22-org dashboards, pipeline, risk register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Rollout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MICE / High Value / Exhibits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Specialized vertical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Selective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Workflow: Quote to Cash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1. Sales Quote — unified charges, tax templates, Bill To / Pay To across services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2. Operational documents — Sea/Air Booking, Transport Order, Declaration Order, Warehouse orders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3. Execution — shipments, jobs, legs, declarations, warehouse operations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4. Milestones — planned vs actual timeline per job (sea, air, transport, customs)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5. Recognition — WIP and accrual per company Recognition Policy Settings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6. Billing — customer invoice, internal Journal Entry, intercompany SI/PI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7. Credit control — warn on save; hold create/submit/print; Credit Hold Lift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Execution Modules — ManCom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Sea &amp; Air</a:t>
            </a:r>
          </a:p>
          <a:p>
            <a:pPr lvl="1"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Volume/weight roll-up at shipment; estimated vs actual charges for WIP and invoicing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Transport</a:t>
            </a:r>
          </a:p>
          <a:p>
            <a:pPr lvl="1"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Order → job → leg → run sheet → POD; dangerous goods; Lalamove / Transportify integrations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Customs</a:t>
            </a:r>
          </a:p>
          <a:p>
            <a:pPr lvl="1"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Permit requirements and exemptions; declaration lifecycle to clearance and release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Warehousing</a:t>
            </a:r>
          </a:p>
          <a:p>
            <a:pPr lvl="1">
              <a:spcAft>
                <a:spcPts val="600"/>
              </a:spcAft>
              <a:defRPr sz="1300">
                <a:solidFill>
                  <a:srgbClr val="555555"/>
                </a:solidFill>
              </a:defRPr>
            </a:pPr>
            <a:r>
              <a:t>Inbound through release, periodic billing, customer portal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Finance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Main Job holds customer-facing charges; Internal Jobs hold service-specific costs with revenue allocation.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One Recognition Policy Settings document per company — shared date basis for WIP and accrual.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Proforma GL and profitability views — expected postings from operational data.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Automatic WIP/accrual reversal when real invoices and internal billing post.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Credit Management: per-DocType or apply-all holds; Credit Manager approval for lifts.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t>Intercompany: Journal Entry (same company) vs Sales/Purchase Invoice (cross-entity).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Milestone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83210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41605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milestone chain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Sea Freight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Booking → Gate-In → Loaded → Departed → Arrived → Delivered → Closed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Air Freight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Booking → Departed → In-Transit → Arrived → Delivered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Pick-Up → In-Transit → Delivered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Customs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Submitted → Under Review → Approved → Released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Start → Received → Putaway → Pick → Release → End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75488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Control Tower tracks avg lead time per milestone — actionable KPI for operations meetings.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 Tower</a:t>
            </a:r>
          </a:p>
          <a:p>
            <a:pPr>
              <a:defRPr sz="1400">
                <a:solidFill>
                  <a:srgbClr val="B8D4E8"/>
                </a:solidFill>
              </a:defRPr>
            </a:pPr>
            <a:r>
              <a:t>Executive visibility — 22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Financial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GP YTD vs target · 3-year compare · Top clients/agents/carriers · Unbilled shipments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Operations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Open job files · Avg age · Milestone lead times · Trips/month · Facility occupancy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Pipeline &amp; risk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Exhibits, projects, luxury pipeline · Risk register entries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Support functions</a:t>
            </a:r>
          </a:p>
          <a:p>
            <a:pPr lvl="1">
              <a:spcAft>
                <a:spcPts val="600"/>
              </a:spcAft>
              <a:defRPr sz="1200">
                <a:solidFill>
                  <a:srgbClr val="555555"/>
                </a:solidFill>
              </a:defRPr>
            </a:pPr>
            <a:r>
              <a:t>IT tickets &amp; uptime · HR labor vs budget · Collections 60+ aging · Credit exposure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</a:defRPr>
            </a:pPr>
            <a:r>
              <a:t>Status: seeded on install/migrate; dimension mapping configured per tenant.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Technology Platform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371600"/>
          <a:ext cx="83210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41605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Frappe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v16+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ERPNext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v16+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3.14+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bench install-app logistics · bench migrate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docs.cargonext.com · in-app wiki user guide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Integrations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Lalamove, Transportify, ERPNext GL / SI / PI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Implementation — Current Stage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34440"/>
          <a:ext cx="83210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Product v1 Astraea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— 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Release notes, press release, migration patches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Core execution modules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Sea, air, transport, customs, warehousing live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Early adopter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Live / expanding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ATN, ASL, Prime Warehouse, Fast Prime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Finance alignment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Mature on v1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Recognition, WIP reversal, intercompany, credit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Control Tower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Active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22-org registry, dashboards, pipeline/risk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Verticals (MICE, Exhibits)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Selective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Enabled per business unit need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Programme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43000"/>
          <a:ext cx="83210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Success criteria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v1 Astraea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GA release and documentation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Early adopter go-lives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4+ named customers in production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Finance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Recognition, WIP reversal, IC billing live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Quote-to-execution fidelity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Charges flow quote → booking/order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Control Tower 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Dashboards for priority profit centers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Control Tower group rollout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All 22 orgs with live KPIs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M7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Portal &amp; integration 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Stable customer portal and carrier APIs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Business Value for the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8138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Revenue protection — credit holds and exposure visibility before shipment execution.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Margin visibility — job-level gross profit from GL, not offline spreadsheets.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Cycle time — milestone lead-time KPIs surfaced in Control Tower.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Operational scale — one platform for forwarding, trucking, and warehousing.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Compliance — customs permits, dangerous goods, document checklists with alerts.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Strategic asset — world-class logistics software built and owned in the Philippines.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CargoNext v1 Astraea  |  ManCom Briefing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Recommended ManCom Actions</a:t>
            </a:r>
          </a:p>
          <a:p>
            <a:pPr>
              <a:spcBef>
                <a:spcPts val="1000"/>
              </a:spcBef>
              <a:defRPr sz="1700">
                <a:solidFill>
                  <a:srgbClr val="D4E8F5"/>
                </a:solidFill>
              </a:defRPr>
            </a:pPr>
            <a:r>
              <a:t>1. Endorse CargoNext v1 Astraea as the group logistics platform standard on ERPNext.</a:t>
            </a:r>
          </a:p>
          <a:p>
            <a:pPr>
              <a:spcBef>
                <a:spcPts val="1000"/>
              </a:spcBef>
              <a:defRPr sz="1700">
                <a:solidFill>
                  <a:srgbClr val="D4E8F5"/>
                </a:solidFill>
              </a:defRPr>
            </a:pPr>
            <a:r>
              <a:t>2. Approve Control Tower pilot for priority profit centers (GP, pipeline, milestone KPIs).</a:t>
            </a:r>
          </a:p>
          <a:p>
            <a:pPr>
              <a:spcBef>
                <a:spcPts val="1000"/>
              </a:spcBef>
              <a:defRPr sz="1700">
                <a:solidFill>
                  <a:srgbClr val="D4E8F5"/>
                </a:solidFill>
              </a:defRPr>
            </a:pPr>
            <a:r>
              <a:t>3. Confirm rollout sequence for remaining business units (transport, warehousing, forwarding).</a:t>
            </a:r>
          </a:p>
          <a:p>
            <a:pPr>
              <a:spcBef>
                <a:spcPts val="1000"/>
              </a:spcBef>
              <a:defRPr sz="1700">
                <a:solidFill>
                  <a:srgbClr val="D4E8F5"/>
                </a:solidFill>
              </a:defRPr>
            </a:pPr>
            <a:r>
              <a:t>4. Mandate post-migrate validation: recognition policy, credit rules, sample quote-to-invoice flows.</a:t>
            </a:r>
          </a:p>
          <a:p>
            <a:pPr>
              <a:spcBef>
                <a:spcPts val="1000"/>
              </a:spcBef>
              <a:defRPr sz="1700">
                <a:solidFill>
                  <a:srgbClr val="D4E8F5"/>
                </a:solidFill>
              </a:defRPr>
            </a:pPr>
          </a:p>
          <a:p>
            <a:pPr>
              <a:spcBef>
                <a:spcPts val="1000"/>
              </a:spcBef>
              <a:defRPr sz="1700">
                <a:solidFill>
                  <a:srgbClr val="D4E8F5"/>
                </a:solidFill>
              </a:defRPr>
            </a:pPr>
            <a:r>
              <a:t>Contacts: info@agilasoft.com  |  docs.cargonext.com  |  github.com/agilasoft/logistics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